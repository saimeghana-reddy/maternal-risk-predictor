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-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853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saimeghanareddy1075/i-built-a-model-that-flags-high-risk-pregnancies-148293b7361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365760"/>
            <a:ext cx="3200400" cy="2926080"/>
          </a:xfrm>
          <a:prstGeom prst="roundRect">
            <a:avLst>
              <a:gd name="adj" fmla="val 14063"/>
            </a:avLst>
          </a:prstGeom>
          <a:solidFill>
            <a:srgbClr val="7B2D2D">
              <a:alpha val="70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57200"/>
            <a:ext cx="1828800" cy="1828800"/>
          </a:xfrm>
          <a:prstGeom prst="roundRect">
            <a:avLst>
              <a:gd name="adj" fmla="val 22500"/>
            </a:avLst>
          </a:prstGeom>
          <a:solidFill>
            <a:srgbClr val="C0504D">
              <a:alpha val="45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3840480"/>
            <a:ext cx="2011680" cy="2011680"/>
          </a:xfrm>
          <a:prstGeom prst="roundRect">
            <a:avLst>
              <a:gd name="adj" fmla="val 20455"/>
            </a:avLst>
          </a:prstGeom>
          <a:solidFill>
            <a:srgbClr val="7B2D2D">
              <a:alpha val="60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" y="3291840"/>
            <a:ext cx="1097280" cy="1097280"/>
          </a:xfrm>
          <a:prstGeom prst="roundRect">
            <a:avLst>
              <a:gd name="adj" fmla="val 37500"/>
            </a:avLst>
          </a:prstGeom>
          <a:solidFill>
            <a:srgbClr val="C0504D">
              <a:alpha val="50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54864" cy="25603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22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Maternal Risk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Predictor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Pregnancy Risk Identification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Rural Tribal Districts in India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52044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C0504D">
              <a:alpha val="80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20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Mandi · Xpecto '26 · Data Science Contest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Altair AI Studio · Dataset: UCI Maternal Health Risk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D5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457200"/>
            <a:ext cx="1828800" cy="1828800"/>
          </a:xfrm>
          <a:prstGeom prst="roundRect">
            <a:avLst>
              <a:gd name="adj" fmla="val 22500"/>
            </a:avLst>
          </a:prstGeom>
          <a:solidFill>
            <a:srgbClr val="7B2D2D">
              <a:alpha val="55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274320"/>
            <a:ext cx="1645920" cy="1645920"/>
          </a:xfrm>
          <a:prstGeom prst="roundRect">
            <a:avLst>
              <a:gd name="adj" fmla="val 25000"/>
            </a:avLst>
          </a:prstGeom>
          <a:solidFill>
            <a:srgbClr val="C0504D">
              <a:alpha val="50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931920"/>
            <a:ext cx="2011680" cy="2011680"/>
          </a:xfrm>
          <a:prstGeom prst="roundRect">
            <a:avLst>
              <a:gd name="adj" fmla="val 20455"/>
            </a:avLst>
          </a:prstGeom>
          <a:solidFill>
            <a:srgbClr val="C0504D">
              <a:alpha val="45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5760" y="4114800"/>
            <a:ext cx="1371600" cy="1371600"/>
          </a:xfrm>
          <a:prstGeom prst="roundRect">
            <a:avLst>
              <a:gd name="adj" fmla="val 30000"/>
            </a:avLst>
          </a:prstGeom>
          <a:solidFill>
            <a:srgbClr val="7B2D2D">
              <a:alpha val="50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Story That Data Could Have Changed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046720" cy="2011680"/>
          </a:xfrm>
          <a:prstGeom prst="roundRect">
            <a:avLst>
              <a:gd name="adj" fmla="val 8182"/>
            </a:avLst>
          </a:prstGeom>
          <a:solidFill>
            <a:srgbClr val="7B2D2D">
              <a:alpha val="12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05840"/>
            <a:ext cx="109728" cy="20116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051560"/>
            <a:ext cx="7680960" cy="1920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r>
              <a:rPr lang="en-US" sz="1700" dirty="0">
                <a:solidFill>
                  <a:srgbClr val="2C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Savitri, 19, walked 12km to the PHC.
She was pregnant. Anaemic. Exhausted.
Nobody flagged her as high risk.
</a:t>
            </a:r>
            <a:r>
              <a:rPr lang="en-US" sz="17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didn't make it.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37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39502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Mothers lost every year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24612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337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83280" y="39502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preventable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early detection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3337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39502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 in rural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districts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365760"/>
            <a:ext cx="2011680" cy="2011680"/>
          </a:xfrm>
          <a:prstGeom prst="roundRect">
            <a:avLst>
              <a:gd name="adj" fmla="val 20455"/>
            </a:avLst>
          </a:prstGeom>
          <a:solidFill>
            <a:srgbClr val="7B2D2D">
              <a:alpha val="65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840480"/>
            <a:ext cx="1828800" cy="1828800"/>
          </a:xfrm>
          <a:prstGeom prst="roundRect">
            <a:avLst>
              <a:gd name="adj" fmla="val 22500"/>
            </a:avLst>
          </a:prstGeom>
          <a:solidFill>
            <a:srgbClr val="C0504D">
              <a:alpha val="50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8333"/>
            </a:avLst>
          </a:prstGeom>
          <a:solidFill>
            <a:srgbClr val="7B2D2D">
              <a:alpha val="25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612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07008" y="11612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PHC workers have no way to identify which pregnant women are at high risk before a crisis happens.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023360" cy="1645920"/>
          </a:xfrm>
          <a:prstGeom prst="roundRect">
            <a:avLst>
              <a:gd name="adj" fmla="val 8333"/>
            </a:avLst>
          </a:prstGeom>
          <a:solidFill>
            <a:srgbClr val="7B2D2D">
              <a:alpha val="25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612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96128" y="11612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819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pressure, sugar levels, heart rate — all collected but never analyzed together for risk prediction.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8333"/>
            </a:avLst>
          </a:prstGeom>
          <a:solidFill>
            <a:srgbClr val="7B2D2D">
              <a:alpha val="25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358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07008" y="3035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Districts Left Behind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45643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Anaemia rates above 70%, ANC visits below 2 — yet no system flags these women for urgent attention.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4023360" cy="1645920"/>
          </a:xfrm>
          <a:prstGeom prst="roundRect">
            <a:avLst>
              <a:gd name="adj" fmla="val 8333"/>
            </a:avLst>
          </a:prstGeom>
          <a:solidFill>
            <a:srgbClr val="7B2D2D">
              <a:alpha val="25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358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96128" y="3035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don’t know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45643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home visits with no data. They need a prioritized list. They need to know who is Savitri.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D5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1828800"/>
          </a:xfrm>
          <a:prstGeom prst="roundRect">
            <a:avLst>
              <a:gd name="adj" fmla="val 22500"/>
            </a:avLst>
          </a:prstGeom>
          <a:solidFill>
            <a:srgbClr val="7B2D2D">
              <a:alpha val="55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931920"/>
            <a:ext cx="1645920" cy="1645920"/>
          </a:xfrm>
          <a:prstGeom prst="roundRect">
            <a:avLst>
              <a:gd name="adj" fmla="val 25000"/>
            </a:avLst>
          </a:prstGeom>
          <a:solidFill>
            <a:srgbClr val="C0504D">
              <a:alpha val="50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model that scores every pregnant patient's risk level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they even reach the doctor.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46720" cy="1371600"/>
          </a:xfrm>
          <a:prstGeom prst="roundRect">
            <a:avLst>
              <a:gd name="adj" fmla="val 12000"/>
            </a:avLst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63040"/>
            <a:ext cx="758952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Risk Predictor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Age, Blood Pressure, Blood Sugar, Body Temperature &amp; Heart Rate — our Random Forest model predicts whether a pregnant woman is at </a:t>
            </a:r>
            <a:endParaRPr lang="en-US" sz="20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Medium, or High Risk</a:t>
            </a:r>
            <a:r>
              <a:rPr lang="en-US" sz="13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instantly.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65176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017520"/>
            <a:ext cx="2651760" cy="347472"/>
          </a:xfrm>
          <a:prstGeom prst="roundRect">
            <a:avLst>
              <a:gd name="adj" fmla="val 39474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18688"/>
            <a:ext cx="2651760" cy="15544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Alert System — The Vision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401568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model’s output can be the foundation of an ASHA alert system — rank patients by risk score, prioritise visits accordingly.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3017520"/>
            <a:ext cx="265176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3017520"/>
            <a:ext cx="2651760" cy="347472"/>
          </a:xfrm>
          <a:prstGeom prst="roundRect">
            <a:avLst>
              <a:gd name="adj" fmla="val 39474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3218688"/>
            <a:ext cx="2651760" cy="15544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Doctor Prioritises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47288" y="3401568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women automatically scheduled for first consultation slots.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265176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017520"/>
            <a:ext cx="2651760" cy="347472"/>
          </a:xfrm>
          <a:prstGeom prst="roundRect">
            <a:avLst>
              <a:gd name="adj" fmla="val 39474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218688"/>
            <a:ext cx="2651760" cy="15544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Cost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7648" y="3401568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data already collected at every antenatal visit. No new equipment needed.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74320"/>
            <a:ext cx="1828800" cy="1828800"/>
          </a:xfrm>
          <a:prstGeom prst="roundRect">
            <a:avLst>
              <a:gd name="adj" fmla="val 22500"/>
            </a:avLst>
          </a:prstGeom>
          <a:solidFill>
            <a:srgbClr val="7B2D2D">
              <a:alpha val="65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4023360"/>
            <a:ext cx="1645920" cy="1645920"/>
          </a:xfrm>
          <a:prstGeom prst="roundRect">
            <a:avLst>
              <a:gd name="adj" fmla="val 25000"/>
            </a:avLst>
          </a:prstGeom>
          <a:solidFill>
            <a:srgbClr val="C0504D">
              <a:alpha val="50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Maternal Health Risk Dataset  ·  1,014 real patient records  ·  IoT-collected hospital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7B2D2D">
              <a:alpha val="28000"/>
            </a:srgbClr>
          </a:solidFill>
          <a:ln w="6350">
            <a:solidFill>
              <a:srgbClr val="A07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389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7556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pregnancies carry significantly higher complication risk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298448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7B2D2D">
              <a:alpha val="28000"/>
            </a:srgbClr>
          </a:solidFill>
          <a:ln w="6350">
            <a:solidFill>
              <a:srgbClr val="A070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6048" y="1554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389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17556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blood pressure — key hypertension indicator during pregnancy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7B2D2D">
              <a:alpha val="28000"/>
            </a:srgbClr>
          </a:solidFill>
          <a:ln w="6350">
            <a:solidFill>
              <a:srgbClr val="A07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761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596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BP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9626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blood pressure — combined with systolic gives full picture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505456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7B2D2D">
              <a:alpha val="28000"/>
            </a:srgbClr>
          </a:solidFill>
          <a:ln w="6350">
            <a:solidFill>
              <a:srgbClr val="A070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2761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596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Sugar (BS)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29626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Gestational diabetes signal — elevated BS flags immediate danger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712464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7B2D2D">
              <a:alpha val="28000"/>
            </a:srgbClr>
          </a:solidFill>
          <a:ln w="6350">
            <a:solidFill>
              <a:srgbClr val="A070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8039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Temperature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16966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during pregnancy indicates infection risk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712464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7B2D2D">
              <a:alpha val="28000"/>
            </a:srgbClr>
          </a:solidFill>
          <a:ln w="6350">
            <a:solidFill>
              <a:srgbClr val="A070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38039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416966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stress indicator — abnormal rates signal complications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D5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365760"/>
            <a:ext cx="2011680" cy="1828800"/>
          </a:xfrm>
          <a:prstGeom prst="roundRect">
            <a:avLst>
              <a:gd name="adj" fmla="val 22500"/>
            </a:avLst>
          </a:prstGeom>
          <a:solidFill>
            <a:srgbClr val="7B2D2D">
              <a:alpha val="55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931920"/>
            <a:ext cx="1645920" cy="1645920"/>
          </a:xfrm>
          <a:prstGeom prst="roundRect">
            <a:avLst>
              <a:gd name="adj" fmla="val 25000"/>
            </a:avLst>
          </a:prstGeom>
          <a:solidFill>
            <a:srgbClr val="C0504D">
              <a:alpha val="50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Altair AI Studio (RapidMiner) — visual drag-and-drop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" y="1325880"/>
            <a:ext cx="1536192" cy="2011680"/>
          </a:xfrm>
          <a:prstGeom prst="roundRect">
            <a:avLst>
              <a:gd name="adj" fmla="val 8929"/>
            </a:avLst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" y="1463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4904" y="19202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23774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1,014 patient records from dataset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83664" y="2331720"/>
            <a:ext cx="237744" cy="0"/>
          </a:xfrm>
          <a:prstGeom prst="line">
            <a:avLst/>
          </a:prstGeom>
          <a:noFill/>
          <a:ln w="25400">
            <a:solidFill>
              <a:srgbClr val="C05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213055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66544" y="1325880"/>
            <a:ext cx="1536192" cy="2011680"/>
          </a:xfrm>
          <a:prstGeom prst="roundRect">
            <a:avLst>
              <a:gd name="adj" fmla="val 8929"/>
            </a:avLst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66544" y="1463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12264" y="19202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Role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39696" y="23774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RiskLevel as prediction target label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21024" y="2331720"/>
            <a:ext cx="237744" cy="0"/>
          </a:xfrm>
          <a:prstGeom prst="line">
            <a:avLst/>
          </a:prstGeom>
          <a:noFill/>
          <a:ln w="25400">
            <a:solidFill>
              <a:srgbClr val="C05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6472" y="213055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03904" y="1325880"/>
            <a:ext cx="1536192" cy="2011680"/>
          </a:xfrm>
          <a:prstGeom prst="roundRect">
            <a:avLst>
              <a:gd name="adj" fmla="val 8929"/>
            </a:avLst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03904" y="1463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49624" y="19202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77056" y="23774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training / 30% testing split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58384" y="2331720"/>
            <a:ext cx="237744" cy="0"/>
          </a:xfrm>
          <a:prstGeom prst="line">
            <a:avLst/>
          </a:prstGeom>
          <a:noFill/>
          <a:ln w="25400">
            <a:solidFill>
              <a:srgbClr val="C05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3832" y="213055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1325880"/>
            <a:ext cx="1536192" cy="2011680"/>
          </a:xfrm>
          <a:prstGeom prst="roundRect">
            <a:avLst>
              <a:gd name="adj" fmla="val 8929"/>
            </a:avLst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41264" y="1463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86984" y="19202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14416" y="23774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trained on patient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95744" y="2331720"/>
            <a:ext cx="237744" cy="0"/>
          </a:xfrm>
          <a:prstGeom prst="line">
            <a:avLst/>
          </a:prstGeom>
          <a:noFill/>
          <a:ln w="25400">
            <a:solidFill>
              <a:srgbClr val="C050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51192" y="213055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78624" y="1325880"/>
            <a:ext cx="1536192" cy="2011680"/>
          </a:xfrm>
          <a:prstGeom prst="roundRect">
            <a:avLst>
              <a:gd name="adj" fmla="val 8929"/>
            </a:avLst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78624" y="1463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24344" y="19202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51776" y="23774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 on unseen test patients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419856"/>
            <a:ext cx="8046720" cy="1298448"/>
          </a:xfrm>
          <a:prstGeom prst="roundRect">
            <a:avLst>
              <a:gd name="adj" fmla="val 12676"/>
            </a:avLst>
          </a:prstGeom>
          <a:solidFill>
            <a:srgbClr val="2C1A1A"/>
          </a:solidFill>
          <a:ln w="19050">
            <a:solidFill>
              <a:srgbClr val="C050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493008"/>
            <a:ext cx="758952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Output  </a:t>
            </a:r>
            <a:r>
              <a:rPr lang="en-US" sz="13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Accuracy: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76.72%</a:t>
            </a:r>
            <a:r>
              <a:rPr lang="en-US" sz="13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High-Risk Recall: </a:t>
            </a:r>
            <a:r>
              <a:rPr lang="en-US" sz="2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86.59%</a:t>
            </a:r>
            <a:r>
              <a:rPr lang="en-US" sz="12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catches 87 in every 100 mothers who need urgent care</a:t>
            </a:r>
            <a:endParaRPr lang="en-US" sz="15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FB2991-6E62-36A4-7C8F-E9F69CE30E75}"/>
              </a:ext>
            </a:extLst>
          </p:cNvPr>
          <p:cNvSpPr txBox="1"/>
          <p:nvPr/>
        </p:nvSpPr>
        <p:spPr>
          <a:xfrm>
            <a:off x="1904062" y="4718304"/>
            <a:ext cx="5127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to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ead the full write-up on Medium</a:t>
            </a:r>
            <a:endParaRPr lang="en-US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1828800"/>
          </a:xfrm>
          <a:prstGeom prst="roundRect">
            <a:avLst>
              <a:gd name="adj" fmla="val 22500"/>
            </a:avLst>
          </a:prstGeom>
          <a:solidFill>
            <a:srgbClr val="7B2D2D">
              <a:alpha val="65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840480"/>
            <a:ext cx="1645920" cy="1645920"/>
          </a:xfrm>
          <a:prstGeom prst="roundRect">
            <a:avLst>
              <a:gd name="adj" fmla="val 25000"/>
            </a:avLst>
          </a:prstGeom>
          <a:solidFill>
            <a:srgbClr val="C0504D">
              <a:alpha val="50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Results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2148840"/>
          </a:xfrm>
          <a:prstGeom prst="roundRect">
            <a:avLst>
              <a:gd name="adj" fmla="val 7660"/>
            </a:avLst>
          </a:prstGeom>
          <a:solidFill>
            <a:srgbClr val="7B2D2D">
              <a:alpha val="40000"/>
            </a:srgbClr>
          </a:solidFill>
          <a:ln w="19050">
            <a:solidFill>
              <a:srgbClr val="C0504D"/>
            </a:solidFill>
            <a:prstDash val="solid"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76.72%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3 risk categories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960120"/>
            <a:ext cx="2606040" cy="2148840"/>
          </a:xfrm>
          <a:prstGeom prst="roundRect">
            <a:avLst>
              <a:gd name="adj" fmla="val 7660"/>
            </a:avLst>
          </a:prstGeom>
          <a:solidFill>
            <a:srgbClr val="7B2D2D">
              <a:alpha val="40000"/>
            </a:srgbClr>
          </a:solidFill>
          <a:ln w="19050">
            <a:solidFill>
              <a:srgbClr val="C0504D"/>
            </a:solidFill>
            <a:prstDash val="solid"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86.59%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56432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Recall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flagged high-risk mothers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2784" y="960120"/>
            <a:ext cx="2606040" cy="2148840"/>
          </a:xfrm>
          <a:prstGeom prst="roundRect">
            <a:avLst>
              <a:gd name="adj" fmla="val 7660"/>
            </a:avLst>
          </a:prstGeom>
          <a:solidFill>
            <a:srgbClr val="7B2D2D">
              <a:alpha val="40000"/>
            </a:srgbClr>
          </a:solidFill>
          <a:ln w="19050">
            <a:solidFill>
              <a:srgbClr val="C0504D"/>
            </a:solidFill>
            <a:prstDash val="solid"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2784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90.98%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64224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Recall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64224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cleared safe patients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39312"/>
          <a:ext cx="5303520" cy="123444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High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Low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Mid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D5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D5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D5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Mid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89320" y="3291840"/>
            <a:ext cx="2788920" cy="1600200"/>
          </a:xfrm>
          <a:prstGeom prst="roundRect">
            <a:avLst>
              <a:gd name="adj" fmla="val 8571"/>
            </a:avLst>
          </a:prstGeom>
          <a:solidFill>
            <a:srgbClr val="C0504D">
              <a:alpha val="20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337560"/>
            <a:ext cx="2606040" cy="1508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86.59% recall on high-risk means our model almost never misses a mother who needs urgent care.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D5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365760"/>
            <a:ext cx="1828800" cy="1828800"/>
          </a:xfrm>
          <a:prstGeom prst="roundRect">
            <a:avLst>
              <a:gd name="adj" fmla="val 22500"/>
            </a:avLst>
          </a:prstGeom>
          <a:solidFill>
            <a:srgbClr val="7B2D2D">
              <a:alpha val="55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931920"/>
            <a:ext cx="1645920" cy="1645920"/>
          </a:xfrm>
          <a:prstGeom prst="roundRect">
            <a:avLst>
              <a:gd name="adj" fmla="val 25000"/>
            </a:avLst>
          </a:prstGeom>
          <a:solidFill>
            <a:srgbClr val="C0504D">
              <a:alpha val="50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World Impact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model changes lives on the ground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069080" cy="1627632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1463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Alert System — The Next Step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model’s output can be the foundation of an ASHA alert system — rank patients by risk score, prioritise visits accordingly.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64608" y="1298448"/>
            <a:ext cx="4069080" cy="1627632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01768" y="1481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22976" y="1463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Prioritises Correctly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1768" y="1956816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women skip the queue. They get seen before complications develop. Before Savitri's story repeats.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4069080" cy="1627632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328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5568" y="33101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Already Exists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80390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uses vitals collected at every routine ANC visit. No new infrastructure. No extra cost. Just smarter use of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64608" y="3145536"/>
            <a:ext cx="4069080" cy="1627632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01768" y="3328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22976" y="33101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01768" y="380390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Mid-risk patients are flagged for a follow-up call at 2 weeks. The model works as a continuous watch, not a one-time check.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365760"/>
            <a:ext cx="2011680" cy="2011680"/>
          </a:xfrm>
          <a:prstGeom prst="roundRect">
            <a:avLst>
              <a:gd name="adj" fmla="val 20455"/>
            </a:avLst>
          </a:prstGeom>
          <a:solidFill>
            <a:srgbClr val="7B2D2D">
              <a:alpha val="65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931920"/>
            <a:ext cx="1645920" cy="1645920"/>
          </a:xfrm>
          <a:prstGeom prst="roundRect">
            <a:avLst>
              <a:gd name="adj" fmla="val 25000"/>
            </a:avLst>
          </a:prstGeom>
          <a:solidFill>
            <a:srgbClr val="C0504D">
              <a:alpha val="52000"/>
            </a:srgbClr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Credits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AI Studio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280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workflow designer (formerly RapidMiner Studio)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54864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1947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 with gain-ratio criterion, depth 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40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Maternal Health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2615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1,014 real patient records with 6 vital features + risk label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54864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08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 + Set Role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32826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for importing and assigning target variable (RiskLevel)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54864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70/30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63240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3950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ensuring model generalises beyond training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54864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Operator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6324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76.72% · High-risk recall 86.59% · Kappa coefficient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roundRect">
            <a:avLst>
              <a:gd name="adj" fmla="val 10000"/>
            </a:avLst>
          </a:prstGeom>
          <a:solidFill>
            <a:srgbClr val="7B2D2D">
              <a:alpha val="45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roundRect">
            <a:avLst>
              <a:gd name="adj" fmla="val 15000"/>
            </a:avLst>
          </a:prstGeom>
          <a:solidFill>
            <a:srgbClr val="7B2D2D">
              <a:alpha val="40000"/>
            </a:srgbClr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73152" cy="274320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572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cannot replace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5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doctor.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49808" y="15087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it can make sure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C05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woman is invisible.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doesn't replace ASHA workers or doctors.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them one thing they've never had: a ranked list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who needs help the most — before the crisis hits.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977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A07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Savitri. And every woman like her.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4389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Mandi · Xpecto '26 · Data Science Contest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AI Studio + Random Forest · 76.72% Accuracy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A07070"/>
                </a:solidFill>
                <a:latin typeface="Calibri" pitchFamily="34" charset="0"/>
              </a:rPr>
              <a:t>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882</Words>
  <Application>Microsoft Office PowerPoint</Application>
  <PresentationFormat>On-screen Show 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Risk Predictor - IIT Mandi Xpecto 26</dc:title>
  <dc:subject>PptxGenJS Presentation</dc:subject>
  <dc:creator>SaiMeghana Padala</dc:creator>
  <cp:lastModifiedBy>Sai Meghana Padala</cp:lastModifiedBy>
  <cp:revision>2</cp:revision>
  <dcterms:created xsi:type="dcterms:W3CDTF">2026-05-03T07:00:37Z</dcterms:created>
  <dcterms:modified xsi:type="dcterms:W3CDTF">2026-05-03T09:35:28Z</dcterms:modified>
</cp:coreProperties>
</file>